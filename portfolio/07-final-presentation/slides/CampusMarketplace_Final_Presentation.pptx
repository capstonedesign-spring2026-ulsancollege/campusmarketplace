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https://capstonedesign-spring2026-ulsancollege.github.io/campusMarketPlace/</a:t>
            </a:r>
            <a:endParaRPr sz="1200"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4" name="Google Shape;30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12a96726b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g3f12a96726b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3" name="Google Shape;323;g3f12a96726b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09600" y="552450"/>
            <a:ext cx="361950" cy="28575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04900" y="4381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FINAL PORTFOLIO PRESENTATION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9600" y="1238250"/>
            <a:ext cx="7239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CampusMarketplace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47700" y="2571750"/>
            <a:ext cx="666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A campus-only marketplace for verified Ulsan College students to buy, sell, and manage second-hand items.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7700" y="3733800"/>
            <a:ext cx="1428750" cy="361950"/>
          </a:xfrm>
          <a:prstGeom prst="rect">
            <a:avLst/>
          </a:prstGeom>
          <a:solidFill>
            <a:srgbClr val="FFFFFF">
              <a:alpha val="9411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81050" y="3810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266950" y="3733800"/>
            <a:ext cx="1143000" cy="361950"/>
          </a:xfrm>
          <a:prstGeom prst="rect">
            <a:avLst/>
          </a:prstGeom>
          <a:solidFill>
            <a:srgbClr val="FFFFFF">
              <a:alpha val="9411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400300" y="3810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Flask API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600450" y="3733800"/>
            <a:ext cx="1143000" cy="361950"/>
          </a:xfrm>
          <a:prstGeom prst="rect">
            <a:avLst/>
          </a:prstGeom>
          <a:solidFill>
            <a:srgbClr val="FFFFFF">
              <a:alpha val="9411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733800" y="3810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933950" y="3733800"/>
            <a:ext cx="2333625" cy="361950"/>
          </a:xfrm>
          <a:prstGeom prst="rect">
            <a:avLst/>
          </a:prstGeom>
          <a:solidFill>
            <a:srgbClr val="FFFFFF">
              <a:alpha val="9411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067300" y="3810000"/>
            <a:ext cx="2066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Pages + Render-ready</a:t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572500" y="1257300"/>
            <a:ext cx="57150" cy="68580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839200" y="12192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839200" y="15240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Signup, login, browse, create, manage</a:t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572500" y="2114550"/>
            <a:ext cx="57150" cy="6858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839200" y="207645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839200" y="238125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Portfolio + sprint packets + repo history</a:t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8572500" y="2971800"/>
            <a:ext cx="57150" cy="68580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839200" y="29337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Defense</a:t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8839200" y="32385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Architecture, QA, AI ownership, limits</a:t>
            </a:r>
            <a:endParaRPr/>
          </a:p>
        </p:txBody>
      </p:sp>
      <p:pic>
        <p:nvPicPr>
          <p:cNvPr id="38" name="Google Shape;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8914" y="3848100"/>
            <a:ext cx="1807521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8801100" y="62293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Scan to open the live demo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09600" y="58293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Team: Gayatri K. Bhandari, Aayuska Rai, Sudarshan Rai, Sagar Sob, Ananda Tamang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09600" y="438150"/>
            <a:ext cx="361950" cy="28575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104900" y="32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09600" y="819150"/>
            <a:ext cx="8382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0201C"/>
                </a:solidFill>
                <a:latin typeface="Play"/>
                <a:ea typeface="Play"/>
                <a:cs typeface="Play"/>
                <a:sym typeface="Play"/>
              </a:rPr>
              <a:t>Campus trading is local, but the tools are not.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28650" y="1905000"/>
            <a:ext cx="7810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Students need affordable books, electronics, furniture, and dorm supplies. Public marketplaces are too broad; group chats are hard to search and trust.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66750" y="3190875"/>
            <a:ext cx="3143250" cy="180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14400" y="34290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Trust gap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14400" y="3905250"/>
            <a:ext cx="590550" cy="38100"/>
          </a:xfrm>
          <a:prstGeom prst="rect">
            <a:avLst/>
          </a:prstGeom>
          <a:solidFill>
            <a:srgbClr val="B33A3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14400" y="4171950"/>
            <a:ext cx="2571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Generic marketplaces expose students to strangers, scams, and irrelevant sellers.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381500" y="3190875"/>
            <a:ext cx="3143250" cy="180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629150" y="34290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Discovery gap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629150" y="3905250"/>
            <a:ext cx="590550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629150" y="4171950"/>
            <a:ext cx="2571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Listings disappear inside chats and scattered posts instead of one searchable place.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096250" y="3190875"/>
            <a:ext cx="3143250" cy="180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8343900" y="34290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Campus fit gap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8343900" y="3905250"/>
            <a:ext cx="590550" cy="3810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343900" y="4171950"/>
            <a:ext cx="2571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Students need pickup, seller context, and categories that match semester life.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09600" y="438150"/>
            <a:ext cx="361950" cy="28575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104900" y="32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FINAL MVP FLOW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09600" y="781050"/>
            <a:ext cx="8572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01C"/>
                </a:solidFill>
                <a:latin typeface="Play"/>
                <a:ea typeface="Play"/>
                <a:cs typeface="Play"/>
                <a:sym typeface="Play"/>
              </a:rPr>
              <a:t>The core loop: verify, browse, list, manage.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66750" y="2857500"/>
            <a:ext cx="819150" cy="8191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66750" y="3000375"/>
            <a:ext cx="81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676400" y="3238500"/>
            <a:ext cx="933450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90550" y="395287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Campus signup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90550" y="43243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@office.uc.ac.kr email + password validation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2905125" y="2857500"/>
            <a:ext cx="819150" cy="81915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2905125" y="3000375"/>
            <a:ext cx="81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914775" y="3238500"/>
            <a:ext cx="933450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2828925" y="395287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JWT login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2828925" y="43243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Authenticated access to protected flows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143500" y="2857500"/>
            <a:ext cx="819150" cy="8191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143500" y="3000375"/>
            <a:ext cx="81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153150" y="3238500"/>
            <a:ext cx="933450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067300" y="395287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Browse/search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067300" y="43243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Active listings, categories, item detail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381875" y="2857500"/>
            <a:ext cx="819150" cy="81915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381875" y="3000375"/>
            <a:ext cx="81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8391525" y="3238500"/>
            <a:ext cx="933450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305675" y="395287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Create listing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7305675" y="43243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Title, price, category, status, images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620250" y="2857500"/>
            <a:ext cx="819150" cy="8191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9620250" y="3000375"/>
            <a:ext cx="81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9544050" y="395287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Manage trust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544050" y="43243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Profile, favorites, reviews, messages</a:t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904875" y="561975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The final MVP intentionally avoids payment, shipping, native mobile apps, and admin moderation so the campus marketplace loop stays explainable and demoable.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09600" y="438150"/>
            <a:ext cx="361950" cy="28575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104900" y="32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PRODUCT SURFACE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09600" y="781050"/>
            <a:ext cx="7620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0201C"/>
                </a:solidFill>
                <a:latin typeface="Play"/>
                <a:ea typeface="Play"/>
                <a:cs typeface="Play"/>
                <a:sym typeface="Play"/>
              </a:rPr>
              <a:t>What the final product can show.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66750" y="1952625"/>
            <a:ext cx="3143250" cy="3429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33450" y="22098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33450" y="2819400"/>
            <a:ext cx="2381250" cy="36195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066800" y="28956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Campus email signup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933450" y="3371850"/>
            <a:ext cx="2381250" cy="361950"/>
          </a:xfrm>
          <a:prstGeom prst="rect">
            <a:avLst/>
          </a:prstGeom>
          <a:solidFill>
            <a:srgbClr val="EDF5F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066800" y="34480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OTP endpoints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933450" y="3924300"/>
            <a:ext cx="2381250" cy="36195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066800" y="40005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Login + JWT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933450" y="4476750"/>
            <a:ext cx="2381250" cy="361950"/>
          </a:xfrm>
          <a:prstGeom prst="rect">
            <a:avLst/>
          </a:prstGeom>
          <a:solidFill>
            <a:srgbClr val="EDF5F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066800" y="45529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Profile/avatar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381500" y="1952625"/>
            <a:ext cx="314325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648200" y="22098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Marketplace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648200" y="2819400"/>
            <a:ext cx="2381250" cy="36195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781550" y="28956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Browse listings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648200" y="3371850"/>
            <a:ext cx="2381250" cy="361950"/>
          </a:xfrm>
          <a:prstGeom prst="rect">
            <a:avLst/>
          </a:prstGeom>
          <a:solidFill>
            <a:srgbClr val="EDF5F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781550" y="34480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Search/category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648200" y="3924300"/>
            <a:ext cx="2381250" cy="36195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781550" y="40005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Item detail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648200" y="4476750"/>
            <a:ext cx="2381250" cy="361950"/>
          </a:xfrm>
          <a:prstGeom prst="rect">
            <a:avLst/>
          </a:prstGeom>
          <a:solidFill>
            <a:srgbClr val="EDF5F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781550" y="45529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Create/update item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096250" y="1952625"/>
            <a:ext cx="3143250" cy="3429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362950" y="22098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Trust layer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362950" y="2819400"/>
            <a:ext cx="2381250" cy="36195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496300" y="28956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Favorites</a:t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8362950" y="3371850"/>
            <a:ext cx="2381250" cy="361950"/>
          </a:xfrm>
          <a:prstGeom prst="rect">
            <a:avLst/>
          </a:prstGeom>
          <a:solidFill>
            <a:srgbClr val="EDF5F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496300" y="34480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Public profiles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8362950" y="3924300"/>
            <a:ext cx="2381250" cy="36195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496300" y="40005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Seller reviews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362950" y="4476750"/>
            <a:ext cx="2381250" cy="361950"/>
          </a:xfrm>
          <a:prstGeom prst="rect">
            <a:avLst/>
          </a:prstGeom>
          <a:solidFill>
            <a:srgbClr val="EDF5F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496300" y="45529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Messaging endpoints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00100" y="58102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Evidence: frontend routes, Flask endpoints, README setup notes, Week 11 verification, and Week 13 feature-completion packet.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09600" y="495300"/>
            <a:ext cx="361950" cy="28575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104900" y="3810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09600" y="876300"/>
            <a:ext cx="7429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 small full-stack system with clear service boundaries.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819150" y="2667000"/>
            <a:ext cx="20002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971550" y="28003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Student Browser</a:t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571875" y="2381250"/>
            <a:ext cx="2476500" cy="990600"/>
          </a:xfrm>
          <a:prstGeom prst="rect">
            <a:avLst/>
          </a:prstGeom>
          <a:solidFill>
            <a:srgbClr val="DFF5EC"/>
          </a:solidFill>
          <a:ln cap="flat" cmpd="sng" w="9525">
            <a:solidFill>
              <a:srgbClr val="FFFFFF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3724275" y="2514600"/>
            <a:ext cx="2171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React + Vite Frontend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GitHub Pages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896100" y="2381250"/>
            <a:ext cx="1952625" cy="9906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FFFFFF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048500" y="2514600"/>
            <a:ext cx="1647825" cy="800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Flask API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app.py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9525000" y="1695450"/>
            <a:ext cx="20955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9677400" y="1828800"/>
            <a:ext cx="1790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users/items/messages/reviews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525000" y="2952750"/>
            <a:ext cx="20955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9677400" y="3086100"/>
            <a:ext cx="1790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SendGrid / SMTP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OTP email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9525000" y="4210050"/>
            <a:ext cx="20955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9677400" y="4343400"/>
            <a:ext cx="1790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Cloudinary / local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image storage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819400" y="3019425"/>
            <a:ext cx="752475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048375" y="2876550"/>
            <a:ext cx="847725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848725" y="2876550"/>
            <a:ext cx="676275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848725" y="2876550"/>
            <a:ext cx="676275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8848725" y="2876550"/>
            <a:ext cx="676275" cy="381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800100" y="573405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Auth: JWT + password hashing + OTP verification flow. Data model: users, email verification records, items, images, favorites, threads, messages, seller reviews.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09600" y="438150"/>
            <a:ext cx="361950" cy="28575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104900" y="32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SEMESTER JOURNEY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09600" y="781050"/>
            <a:ext cx="8572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0201C"/>
                </a:solidFill>
                <a:latin typeface="Play"/>
                <a:ea typeface="Play"/>
                <a:cs typeface="Play"/>
                <a:sym typeface="Play"/>
              </a:rPr>
              <a:t>The project narrowed from idea to verified MVP.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914400" y="3143250"/>
            <a:ext cx="10001250" cy="47625"/>
          </a:xfrm>
          <a:prstGeom prst="rect">
            <a:avLst/>
          </a:prstGeom>
          <a:solidFill>
            <a:srgbClr val="CCD7D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990600" y="2895600"/>
            <a:ext cx="552450" cy="55245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52475" y="36576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Weeks 1-3</a:t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95300" y="40386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Pitch, agreement, stories, wireframes, architecture</a:t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3390900" y="2895600"/>
            <a:ext cx="552450" cy="55245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3152775" y="36576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Weeks 6-8</a:t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895600" y="40386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Vite frontend, backend setup, GitHub Pages, midterm story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791200" y="2895600"/>
            <a:ext cx="552450" cy="552450"/>
          </a:xfrm>
          <a:prstGeom prst="rect">
            <a:avLst/>
          </a:prstGeom>
          <a:solidFill>
            <a:srgbClr val="2D6CD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553075" y="36576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Weeks 9-11</a:t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295900" y="40386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MVP verification: auth, verification gate, item APIs</a:t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191500" y="2895600"/>
            <a:ext cx="552450" cy="55245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953375" y="36576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Weeks 12-13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696200" y="40386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Listings UI, search, dashboard, images, profiles, reviews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0591800" y="2895600"/>
            <a:ext cx="552450" cy="5524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0353675" y="36576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Weeks 14-16</a:t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0096500" y="40386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Final polish: messages, dark mode, readability, portfolio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914400" y="561975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Historical integrity: missing or template-only weekly evidence is called out directly in the portfolio instead of being invented after the fact.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09600" y="438150"/>
            <a:ext cx="361950" cy="28575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1104900" y="32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QA + STABILIZATION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609600" y="781050"/>
            <a:ext cx="895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01C"/>
                </a:solidFill>
                <a:latin typeface="Play"/>
                <a:ea typeface="Play"/>
                <a:cs typeface="Play"/>
                <a:sym typeface="Play"/>
              </a:rPr>
              <a:t>The demo is defensible because limitations are visible.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42950" y="2143125"/>
            <a:ext cx="10572750" cy="4381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914400" y="22669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962400" y="22669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5867400" y="22669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/ note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42950" y="2581275"/>
            <a:ext cx="10572750" cy="552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914400" y="27432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Frontend build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962400" y="27432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Verified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5867400" y="274320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Vite production build passes</a:t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742950" y="3133725"/>
            <a:ext cx="10572750" cy="552450"/>
          </a:xfrm>
          <a:prstGeom prst="rect">
            <a:avLst/>
          </a:prstGeom>
          <a:solidFill>
            <a:srgbClr val="F2F7F3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914400" y="32956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Core API routes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3962400" y="32956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Implemented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867400" y="32956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Auth, profile, items, messages, reviews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742950" y="3686175"/>
            <a:ext cx="10572750" cy="552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914400" y="38481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Manual QA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3962400" y="38481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Documented</a:t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5867400" y="384810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Profile notes + sprint verification packets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742950" y="4238625"/>
            <a:ext cx="10572750" cy="552450"/>
          </a:xfrm>
          <a:prstGeom prst="rect">
            <a:avLst/>
          </a:prstGeom>
          <a:solidFill>
            <a:srgbClr val="F2F7F3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914400" y="44005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Automated tests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962400" y="44005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Limited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867400" y="44005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Test draft needs Flask client fixture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742950" y="4791075"/>
            <a:ext cx="10572750" cy="552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914400" y="49530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External services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962400" y="4953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B33A3A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867400" y="495300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OTP, Cloudinary, MongoDB, hosting config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09600" y="438150"/>
            <a:ext cx="361950" cy="28575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104900" y="32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AI + CODE OWNERSHIP</a:t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609600" y="781050"/>
            <a:ext cx="895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01C"/>
                </a:solidFill>
                <a:latin typeface="Play"/>
                <a:ea typeface="Play"/>
                <a:cs typeface="Play"/>
                <a:sym typeface="Play"/>
              </a:rPr>
              <a:t>AI assisted the work; humans own the defense.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704850" y="2114550"/>
            <a:ext cx="485775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990600" y="23622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AI helped with</a:t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990600" y="2724150"/>
            <a:ext cx="4095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Validation patterns, responsive UI guidance, Vite/build setup, Flask route/schema boilerplate, debugging ideas, sprint/PR wording.</a:t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704850" y="3590925"/>
            <a:ext cx="485775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990600" y="38385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Humans changed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90600" y="4200525"/>
            <a:ext cx="4095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 email rule, password requirements, real Flask/MongoDB integration, API connections, environment docs, limitation notes.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191250" y="2114550"/>
            <a:ext cx="4953000" cy="2619375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496050" y="23812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Ownership risks to explain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6515100" y="2933700"/>
            <a:ext cx="76200" cy="762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705600" y="28575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OTP email delivery needs provider setup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515100" y="3257550"/>
            <a:ext cx="76200" cy="762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705600" y="31813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Cloudinary requires credentials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515100" y="3581400"/>
            <a:ext cx="76200" cy="7620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705600" y="35052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Tests need fixture setup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515100" y="3905250"/>
            <a:ext cx="76200" cy="7620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6705600" y="38290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Messaging is beyond the minimum demo path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6515100" y="4229100"/>
            <a:ext cx="76200" cy="76200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705600" y="41529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Deployment depends on external services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876300" y="56197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Rule used in the portfolio: AI-assisted work only counts where the team can run it, explain it, test it, debug it, and link evidence.</a:t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609600" y="438150"/>
            <a:ext cx="361950" cy="28575"/>
          </a:xfrm>
          <a:prstGeom prst="rect">
            <a:avLst/>
          </a:prstGeom>
          <a:solidFill>
            <a:srgbClr val="1F7A5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1104900" y="32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7A5F"/>
                </a:solidFill>
                <a:latin typeface="Arial"/>
                <a:ea typeface="Arial"/>
                <a:cs typeface="Arial"/>
                <a:sym typeface="Arial"/>
              </a:rPr>
              <a:t>FINAL PRESENTATION PLAN</a:t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09600" y="781050"/>
            <a:ext cx="8572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0201C"/>
                </a:solidFill>
                <a:latin typeface="Play"/>
                <a:ea typeface="Play"/>
                <a:cs typeface="Play"/>
                <a:sym typeface="Play"/>
              </a:rPr>
              <a:t>15 minutes: story, demo, evidence, defense.</a:t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81050" y="2000250"/>
            <a:ext cx="1238250" cy="4000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781050" y="20955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min</a:t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2266950" y="20764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Project story</a:t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781050" y="2590800"/>
            <a:ext cx="1238250" cy="40005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781050" y="26860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min</a:t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2266950" y="26670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Live MVP demo</a:t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781050" y="3181350"/>
            <a:ext cx="1238250" cy="4000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781050" y="32766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min</a:t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2266950" y="3257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Semester journey</a:t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781050" y="3771900"/>
            <a:ext cx="1238250" cy="4000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781050" y="38671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min</a:t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266950" y="3848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QA evidence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781050" y="4362450"/>
            <a:ext cx="1238250" cy="4000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781050" y="44577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min</a:t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2266950" y="44386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AI ownership</a:t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781050" y="4953000"/>
            <a:ext cx="1238250" cy="4000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81050" y="5048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min</a:t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2266950" y="5029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0201C"/>
                </a:solidFill>
                <a:latin typeface="Arial"/>
                <a:ea typeface="Arial"/>
                <a:cs typeface="Arial"/>
                <a:sym typeface="Arial"/>
              </a:rPr>
              <a:t>Technical defense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572250" y="2095500"/>
            <a:ext cx="4286250" cy="226695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6896100" y="240030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Backup demo rule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6896100" y="2905125"/>
            <a:ext cx="3333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If external services fail, switch to local run, pre-verified account, existing demo listings, image URL fallback, and GitHub code evidence.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6896100" y="3848100"/>
            <a:ext cx="2381250" cy="36195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7029450" y="39243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C332D"/>
                </a:solidFill>
                <a:latin typeface="Arial"/>
                <a:ea typeface="Arial"/>
                <a:cs typeface="Arial"/>
                <a:sym typeface="Arial"/>
              </a:rPr>
              <a:t>Do not submit mystery code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609600" y="552450"/>
            <a:ext cx="361950" cy="28575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1104900" y="4381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CLOSING CLAIM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666750" y="1257300"/>
            <a:ext cx="85725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Working, understandable, evidence-linked.</a:t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704850" y="2952750"/>
            <a:ext cx="7620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5EC"/>
                </a:solidFill>
                <a:latin typeface="Arial"/>
                <a:ea typeface="Arial"/>
                <a:cs typeface="Arial"/>
                <a:sym typeface="Arial"/>
              </a:rPr>
              <a:t>CampusMarketplace is ready to present because the portfolio links the real semester work, the final MVP scope, setup instructions, QA evidence, AI ownership, and backup plan.</a:t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742950" y="4238625"/>
            <a:ext cx="2381250" cy="361950"/>
          </a:xfrm>
          <a:prstGeom prst="rect">
            <a:avLst/>
          </a:prstGeom>
          <a:solidFill>
            <a:srgbClr val="FFFFFF">
              <a:alpha val="9411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876300" y="4314825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Repo: campusMarketPlace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3333750" y="4238625"/>
            <a:ext cx="2952750" cy="361950"/>
          </a:xfrm>
          <a:prstGeom prst="rect">
            <a:avLst/>
          </a:prstGeom>
          <a:solidFill>
            <a:srgbClr val="FFFFFF">
              <a:alpha val="9411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3467100" y="4314825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Portfolio: /portfolio/README.md</a:t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6496050" y="4238625"/>
            <a:ext cx="3333750" cy="361950"/>
          </a:xfrm>
          <a:prstGeom prst="rect">
            <a:avLst/>
          </a:prstGeom>
          <a:solidFill>
            <a:srgbClr val="FFFFFF">
              <a:alpha val="9411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6629400" y="4314825"/>
            <a:ext cx="3067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Demo: GitHub Pages + local fallback</a:t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742950" y="54292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Next improvements: real CI fixtures, seed demo data, stronger screenshots, and each teammate's individual page.</a:t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09600" y="64389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CampusMarketplace final portfolio | Spring 2026</a:t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11239500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/>
          <p:nvPr/>
        </p:nvSpPr>
        <p:spPr>
          <a:xfrm>
            <a:off x="-85525" y="0"/>
            <a:ext cx="12192000" cy="6858000"/>
          </a:xfrm>
          <a:prstGeom prst="rect">
            <a:avLst/>
          </a:prstGeom>
          <a:solidFill>
            <a:srgbClr val="0C332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24075" y="552450"/>
            <a:ext cx="362100" cy="28500"/>
          </a:xfrm>
          <a:prstGeom prst="rect">
            <a:avLst/>
          </a:prstGeom>
          <a:solidFill>
            <a:srgbClr val="F2B84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1019375" y="438150"/>
            <a:ext cx="4000500" cy="247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CLOSING CLAIM</a:t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581225" y="1257300"/>
            <a:ext cx="85725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OUR SITE ITSELF IS PERFECT BUT STILL IF YOU WANNA BE COOL </a:t>
            </a:r>
            <a:r>
              <a:rPr b="1" lang="en-US" sz="3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 FRONT</a:t>
            </a:r>
            <a:r>
              <a:rPr b="1" lang="en-US" sz="3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OF MR.BEN THEN…..</a:t>
            </a:r>
            <a:endParaRPr sz="3000"/>
          </a:p>
        </p:txBody>
      </p:sp>
      <p:sp>
        <p:nvSpPr>
          <p:cNvPr id="329" name="Google Shape;329;p13"/>
          <p:cNvSpPr/>
          <p:nvPr/>
        </p:nvSpPr>
        <p:spPr>
          <a:xfrm>
            <a:off x="657425" y="54292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11153975" y="6419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F6F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2234200" y="2525600"/>
            <a:ext cx="70911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>
                <a:solidFill>
                  <a:schemeClr val="lt1"/>
                </a:solidFill>
              </a:rPr>
              <a:t>ANY QUESTIONS?</a:t>
            </a:r>
            <a:endParaRPr b="1" sz="6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